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77" r:id="rId2"/>
    <p:sldId id="256" r:id="rId3"/>
    <p:sldId id="278" r:id="rId4"/>
    <p:sldId id="279" r:id="rId5"/>
    <p:sldId id="28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6" r:id="rId15"/>
  </p:sldIdLst>
  <p:sldSz cx="18288000" cy="10287000"/>
  <p:notesSz cx="6858000" cy="9144000"/>
  <p:embeddedFontLst>
    <p:embeddedFont>
      <p:font typeface="Archivo Black" panose="020B0604020202020204" charset="0"/>
      <p:regular r:id="rId17"/>
    </p:embeddedFont>
    <p:embeddedFont>
      <p:font typeface="Archivo Narrow" panose="020B0604020202020204" charset="0"/>
      <p:regular r:id="rId18"/>
    </p:embeddedFont>
    <p:embeddedFont>
      <p:font typeface="Raleway" pitchFamily="2" charset="0"/>
      <p:regular r:id="rId19"/>
      <p:bold r:id="rId20"/>
      <p:italic r:id="rId21"/>
      <p:boldItalic r:id="rId22"/>
    </p:embeddedFont>
    <p:embeddedFont>
      <p:font typeface="Raleway Bold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FC6736"/>
    <a:srgbClr val="CA6008"/>
    <a:srgbClr val="F072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802" autoAdjust="0"/>
  </p:normalViewPr>
  <p:slideViewPr>
    <p:cSldViewPr>
      <p:cViewPr varScale="1">
        <p:scale>
          <a:sx n="61" d="100"/>
          <a:sy n="61" d="100"/>
        </p:scale>
        <p:origin x="32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26211-BDF9-48D0-B8D0-3BBD7275C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4EF43-903A-440B-97CC-E97F9F545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93F840-CCE9-F4A6-B21A-3D133BF5942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6F06FBF-7581-52C5-3133-3B1DB4FEF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EDE02B5-2A2C-68A3-D8D9-6D74AAEC6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presentation will discuss ransomware attacks on Critical National Infrastructure, also known as CNI.</a:t>
            </a:r>
          </a:p>
          <a:p>
            <a:endParaRPr lang="en-US"/>
          </a:p>
          <a:p>
            <a:r>
              <a:rPr lang="en-US"/>
              <a:t>Critical infrastructure includes essential systems such as energy, healthcare, and transportation, which are necessary for the functioning of a country. In recent years, ransomware has become one of the most serious cyber threats targeting these systems across multiple countries.</a:t>
            </a:r>
          </a:p>
          <a:p>
            <a:endParaRPr lang="en-US"/>
          </a:p>
          <a:p>
            <a:r>
              <a:rPr lang="en-US"/>
              <a:t>This presentation will explain how ransomware works, its impact, and how such attacks can be prevented.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ACEFD-34D9-EB72-AAA2-1FF469A04E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A9EEF-37B0-9A5B-8890-0CDC72A38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31611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presentation will discuss ransomware attacks on Critical National Infrastructure, also known as CNI.</a:t>
            </a:r>
          </a:p>
          <a:p>
            <a:endParaRPr lang="en-US"/>
          </a:p>
          <a:p>
            <a:r>
              <a:rPr lang="en-US"/>
              <a:t>Critical infrastructure includes essential systems such as energy, healthcare, and transportation, which are necessary for the functioning of a country. In recent years, ransomware has become one of the most serious cyber threats targeting these systems across multiple countries.</a:t>
            </a:r>
          </a:p>
          <a:p>
            <a:endParaRPr lang="en-US"/>
          </a:p>
          <a:p>
            <a:r>
              <a:rPr lang="en-US"/>
              <a:t>This presentation will explain how ransomware works, its impact, and how such attacks can be prevented.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F59A-EC03-64A3-9C66-FC063BDC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51735AB-2AA7-71FE-401C-5E5C03393C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3544E-7F48-D87F-684C-D326A554DD1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FD5604D-9D2C-5F41-ADB4-9AD5D5F91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F68CB08-0CDC-4863-C116-6D5864126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presentation will discuss ransomware attacks on Critical National Infrastructure, also known as CNI.</a:t>
            </a:r>
          </a:p>
          <a:p>
            <a:endParaRPr lang="en-US"/>
          </a:p>
          <a:p>
            <a:r>
              <a:rPr lang="en-US"/>
              <a:t>Critical infrastructure includes essential systems such as energy, healthcare, and transportation, which are necessary for the functioning of a country. In recent years, ransomware has become one of the most serious cyber threats targeting these systems across multiple countries.</a:t>
            </a:r>
          </a:p>
          <a:p>
            <a:endParaRPr lang="en-US"/>
          </a:p>
          <a:p>
            <a:r>
              <a:rPr lang="en-US"/>
              <a:t>This presentation will explain how ransomware works, its impact, and how such attacks can be prevented.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4694D-2196-2890-615B-BF8E64A292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FA285-3D3F-23B3-4189-E38AB2C02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29828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D751D-EA99-67C3-E486-A430FAD28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893E3-19D0-61A3-2452-4259CA950B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0EA975-0DE7-75B2-0227-268DBC19F9C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F6C576F-79FC-184D-0251-A80F0AE528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37D6311-CB32-D686-3E06-9B9A38E9F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presentation will discuss ransomware attacks on Critical National Infrastructure, also known as CNI.</a:t>
            </a:r>
          </a:p>
          <a:p>
            <a:endParaRPr lang="en-US"/>
          </a:p>
          <a:p>
            <a:r>
              <a:rPr lang="en-US"/>
              <a:t>Critical infrastructure includes essential systems such as energy, healthcare, and transportation, which are necessary for the functioning of a country. In recent years, ransomware has become one of the most serious cyber threats targeting these systems across multiple countries.</a:t>
            </a:r>
          </a:p>
          <a:p>
            <a:endParaRPr lang="en-US"/>
          </a:p>
          <a:p>
            <a:r>
              <a:rPr lang="en-US"/>
              <a:t>This presentation will explain how ransomware works, its impact, and how such attacks can be prevented.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0F47A-A0FB-734D-80A6-04A4868C1E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56765-E13C-A66B-A588-5ECF35AF7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06836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545F-3147-BECB-F544-16ED718DA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99EAB0-3A58-758A-86EB-C00F6C2A11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5F011-DBDC-B52B-E73B-6F799A0CB07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334460A-CD4A-FFA3-1856-26FF5D9A0E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F853D85-4662-B63A-D035-3C13397FF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presentation will discuss ransomware attacks on Critical National Infrastructure, also known as CNI.</a:t>
            </a:r>
          </a:p>
          <a:p>
            <a:endParaRPr lang="en-US"/>
          </a:p>
          <a:p>
            <a:r>
              <a:rPr lang="en-US"/>
              <a:t>Critical infrastructure includes essential systems such as energy, healthcare, and transportation, which are necessary for the functioning of a country. In recent years, ransomware has become one of the most serious cyber threats targeting these systems across multiple countries.</a:t>
            </a:r>
          </a:p>
          <a:p>
            <a:endParaRPr lang="en-US"/>
          </a:p>
          <a:p>
            <a:r>
              <a:rPr lang="en-US"/>
              <a:t>This presentation will explain how ransomware works, its impact, and how such attacks can be prevented.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1DB3E-4511-E515-57D6-3470CF8B67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1BAAA-271D-5A61-B6CC-11872B056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90571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cradar.io/" TargetMode="External"/><Relationship Id="rId2" Type="http://schemas.openxmlformats.org/officeDocument/2006/relationships/hyperlink" Target="https://industrialcyber.co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unit42.paloaltonetworks.com/" TargetMode="External"/><Relationship Id="rId5" Type="http://schemas.openxmlformats.org/officeDocument/2006/relationships/hyperlink" Target="https://medtechdive.com/" TargetMode="External"/><Relationship Id="rId4" Type="http://schemas.openxmlformats.org/officeDocument/2006/relationships/hyperlink" Target="https://hipaajournal.com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78CD4-931F-38C8-2AEE-ABF0E3A9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4C1F08-18F7-3A0F-6DF5-EEE57A60FDDF}"/>
              </a:ext>
            </a:extLst>
          </p:cNvPr>
          <p:cNvSpPr/>
          <p:nvPr/>
        </p:nvSpPr>
        <p:spPr>
          <a:xfrm>
            <a:off x="-112615" y="-114300"/>
            <a:ext cx="18513228" cy="10515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4765BFBB-7594-727E-C87D-5647C8B13CA7}"/>
              </a:ext>
            </a:extLst>
          </p:cNvPr>
          <p:cNvSpPr/>
          <p:nvPr/>
        </p:nvSpPr>
        <p:spPr>
          <a:xfrm>
            <a:off x="18288000" y="-2728863"/>
            <a:ext cx="12862454" cy="12862454"/>
          </a:xfrm>
          <a:custGeom>
            <a:avLst/>
            <a:gdLst/>
            <a:ahLst/>
            <a:cxnLst/>
            <a:rect l="l" t="t" r="r" b="b"/>
            <a:pathLst>
              <a:path w="12862454" h="12862454">
                <a:moveTo>
                  <a:pt x="0" y="0"/>
                </a:moveTo>
                <a:lnTo>
                  <a:pt x="12862454" y="0"/>
                </a:lnTo>
                <a:lnTo>
                  <a:pt x="12862454" y="12862454"/>
                </a:lnTo>
                <a:lnTo>
                  <a:pt x="0" y="12862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828AA6A-7B4E-43E7-FCEE-D72A1D61C694}"/>
              </a:ext>
            </a:extLst>
          </p:cNvPr>
          <p:cNvSpPr txBox="1"/>
          <p:nvPr/>
        </p:nvSpPr>
        <p:spPr>
          <a:xfrm>
            <a:off x="-9220200" y="2946789"/>
            <a:ext cx="10964333" cy="370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9600" spc="448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Colonial Pipeline Ransomware Attack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9FCCB05-0F3F-8BDD-9CFA-6EA78F656017}"/>
              </a:ext>
            </a:extLst>
          </p:cNvPr>
          <p:cNvSpPr txBox="1"/>
          <p:nvPr/>
        </p:nvSpPr>
        <p:spPr>
          <a:xfrm>
            <a:off x="-5257800" y="8496300"/>
            <a:ext cx="5372100" cy="506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578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BY: Nathaniel Talens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B795753-33A7-4026-C40A-32250164440B}"/>
              </a:ext>
            </a:extLst>
          </p:cNvPr>
          <p:cNvSpPr txBox="1"/>
          <p:nvPr/>
        </p:nvSpPr>
        <p:spPr>
          <a:xfrm>
            <a:off x="-10210800" y="9258300"/>
            <a:ext cx="10137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spc="385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(link here)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7291D-34C8-0D4B-BAE2-659FA6B4F373}"/>
              </a:ext>
            </a:extLst>
          </p:cNvPr>
          <p:cNvSpPr txBox="1"/>
          <p:nvPr/>
        </p:nvSpPr>
        <p:spPr>
          <a:xfrm>
            <a:off x="2986496" y="4098350"/>
            <a:ext cx="1231500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Assignment 1: Presentation</a:t>
            </a:r>
          </a:p>
          <a:p>
            <a:pPr algn="ctr"/>
            <a:r>
              <a:rPr lang="en-US" sz="3200" dirty="0"/>
              <a:t> </a:t>
            </a:r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Submitted by:</a:t>
            </a:r>
          </a:p>
          <a:p>
            <a:pPr algn="ctr"/>
            <a:r>
              <a:rPr lang="en-US" sz="3200" dirty="0"/>
              <a:t>Nathaniel Josemari A. Talens</a:t>
            </a:r>
          </a:p>
          <a:p>
            <a:pPr algn="ctr"/>
            <a:r>
              <a:rPr lang="en-US" sz="3200" dirty="0"/>
              <a:t>Student ID : 250019  </a:t>
            </a:r>
          </a:p>
          <a:p>
            <a:pPr algn="ctr"/>
            <a:r>
              <a:rPr lang="en-US" sz="3200" dirty="0"/>
              <a:t>Cybersecurity Course - Level 4</a:t>
            </a:r>
          </a:p>
          <a:p>
            <a:pPr algn="ctr"/>
            <a:r>
              <a:rPr lang="en-US" sz="3200" dirty="0"/>
              <a:t>Submitted to: Mr. Mohammad Azmatullah Khan</a:t>
            </a:r>
          </a:p>
          <a:p>
            <a:pPr algn="ctr"/>
            <a:r>
              <a:rPr lang="en-US" sz="3200" dirty="0"/>
              <a:t>Future Business and Technology Institute for Higher Training</a:t>
            </a:r>
          </a:p>
          <a:p>
            <a:pPr algn="ctr"/>
            <a:r>
              <a:rPr lang="en-US" sz="3200" dirty="0"/>
              <a:t>Submitted on: April 28, 2026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00FAD44-F39C-531C-1F13-E6F0D2C51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899" y="265624"/>
            <a:ext cx="4648200" cy="383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9113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2738" y="-2728863"/>
            <a:ext cx="12862454" cy="12862454"/>
          </a:xfrm>
          <a:custGeom>
            <a:avLst/>
            <a:gdLst/>
            <a:ahLst/>
            <a:cxnLst/>
            <a:rect l="l" t="t" r="r" b="b"/>
            <a:pathLst>
              <a:path w="12862454" h="12862454">
                <a:moveTo>
                  <a:pt x="0" y="0"/>
                </a:moveTo>
                <a:lnTo>
                  <a:pt x="12862454" y="0"/>
                </a:lnTo>
                <a:lnTo>
                  <a:pt x="12862454" y="12862454"/>
                </a:lnTo>
                <a:lnTo>
                  <a:pt x="0" y="128624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219200" y="2946789"/>
            <a:ext cx="10964333" cy="370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9600" spc="448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Colonial Pipeline Ransomware Attack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" y="8496300"/>
            <a:ext cx="5372100" cy="506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578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BY: Nathaniel Talens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9258300"/>
            <a:ext cx="10137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spc="385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(link here)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ED740-0496-620B-8D55-85FDA65FFC85}"/>
              </a:ext>
            </a:extLst>
          </p:cNvPr>
          <p:cNvSpPr/>
          <p:nvPr/>
        </p:nvSpPr>
        <p:spPr>
          <a:xfrm>
            <a:off x="0" y="-10591800"/>
            <a:ext cx="18364200" cy="10477500"/>
          </a:xfrm>
          <a:prstGeom prst="rect">
            <a:avLst/>
          </a:prstGeom>
          <a:solidFill>
            <a:srgbClr val="FC673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0CCF1-7792-AF86-33D5-B52C7FE0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1D60F52-635A-E5EF-89FB-78DA06EB766C}"/>
              </a:ext>
            </a:extLst>
          </p:cNvPr>
          <p:cNvSpPr txBox="1"/>
          <p:nvPr/>
        </p:nvSpPr>
        <p:spPr>
          <a:xfrm>
            <a:off x="1219200" y="2946789"/>
            <a:ext cx="10964333" cy="370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9600" spc="448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Colonial Pipeline Ransomware Attack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3665C96-8107-3691-3156-E38952A05453}"/>
              </a:ext>
            </a:extLst>
          </p:cNvPr>
          <p:cNvSpPr txBox="1"/>
          <p:nvPr/>
        </p:nvSpPr>
        <p:spPr>
          <a:xfrm>
            <a:off x="1219200" y="8496300"/>
            <a:ext cx="5372100" cy="506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578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BY: Nathaniel Talens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4791FD9-0D79-10E6-7C75-32AF4FF5B95E}"/>
              </a:ext>
            </a:extLst>
          </p:cNvPr>
          <p:cNvSpPr txBox="1"/>
          <p:nvPr/>
        </p:nvSpPr>
        <p:spPr>
          <a:xfrm>
            <a:off x="1219200" y="9258300"/>
            <a:ext cx="10137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spc="385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(link here)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7D6176-EAA6-8C17-6622-58354783EFA4}"/>
              </a:ext>
            </a:extLst>
          </p:cNvPr>
          <p:cNvSpPr/>
          <p:nvPr/>
        </p:nvSpPr>
        <p:spPr>
          <a:xfrm>
            <a:off x="0" y="-76200"/>
            <a:ext cx="18364200" cy="10477500"/>
          </a:xfrm>
          <a:prstGeom prst="rect">
            <a:avLst/>
          </a:prstGeom>
          <a:solidFill>
            <a:srgbClr val="FC673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7B1DFFC-3539-298B-1A84-7AD93A0B0D53}"/>
              </a:ext>
            </a:extLst>
          </p:cNvPr>
          <p:cNvSpPr txBox="1"/>
          <p:nvPr/>
        </p:nvSpPr>
        <p:spPr>
          <a:xfrm>
            <a:off x="1028700" y="319217"/>
            <a:ext cx="7278634" cy="214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0"/>
              </a:lnSpc>
            </a:pPr>
            <a:r>
              <a:rPr lang="en-US" sz="12500" spc="-837" dirty="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4E1788D-802D-2AEC-CCFF-DE0532D02059}"/>
              </a:ext>
            </a:extLst>
          </p:cNvPr>
          <p:cNvSpPr txBox="1"/>
          <p:nvPr/>
        </p:nvSpPr>
        <p:spPr>
          <a:xfrm>
            <a:off x="515560" y="2373441"/>
            <a:ext cx="17256880" cy="7665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3960" lvl="1" indent="-685800" algn="l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What is Critical National Infrastructure (CNI)</a:t>
            </a:r>
          </a:p>
          <a:p>
            <a:pPr marL="1203960" lvl="1" indent="-685800" algn="l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Overview of the Attack</a:t>
            </a:r>
          </a:p>
          <a:p>
            <a:pPr marL="1203960" lvl="1" indent="-685800" algn="l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How the Attack Happened</a:t>
            </a:r>
          </a:p>
          <a:p>
            <a:pPr marL="1203960" lvl="1" indent="-685800" algn="l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Data Breach Details</a:t>
            </a:r>
          </a:p>
          <a:p>
            <a:pPr marL="1203960" lvl="1" indent="-685800" algn="l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Timeline of Events</a:t>
            </a:r>
          </a:p>
          <a:p>
            <a:pPr marL="1203960" lvl="1" indent="-685800" algn="l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Countries Affected</a:t>
            </a:r>
          </a:p>
          <a:p>
            <a:pPr marL="1203960" lvl="1" indent="-685800" algn="l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Companies Involved</a:t>
            </a:r>
          </a:p>
          <a:p>
            <a:pPr marL="1203960" lvl="1" indent="-685800" algn="l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Impacts of the Attack</a:t>
            </a:r>
          </a:p>
          <a:p>
            <a:pPr marL="1203960" lvl="1" indent="-685800" algn="l">
              <a:lnSpc>
                <a:spcPts val="6719"/>
              </a:lnSpc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Prevention &amp; Lessons Learned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978122-C3F6-2BA6-411D-E23851DB81A3}"/>
              </a:ext>
            </a:extLst>
          </p:cNvPr>
          <p:cNvSpPr/>
          <p:nvPr/>
        </p:nvSpPr>
        <p:spPr>
          <a:xfrm>
            <a:off x="0" y="-10591800"/>
            <a:ext cx="18364200" cy="10477500"/>
          </a:xfrm>
          <a:prstGeom prst="rect">
            <a:avLst/>
          </a:prstGeom>
          <a:solidFill>
            <a:srgbClr val="1E1E1E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41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CD630-135E-B5FC-738A-7B6F7EDE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0C7FC43-45DE-1781-19A9-278AE0DBA6AF}"/>
              </a:ext>
            </a:extLst>
          </p:cNvPr>
          <p:cNvSpPr txBox="1"/>
          <p:nvPr/>
        </p:nvSpPr>
        <p:spPr>
          <a:xfrm>
            <a:off x="1219200" y="2946789"/>
            <a:ext cx="10964333" cy="370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9600" spc="448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Colonial Pipeline Ransomware Attack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0725B19-5550-6CC0-169C-143CCA1F73B0}"/>
              </a:ext>
            </a:extLst>
          </p:cNvPr>
          <p:cNvSpPr txBox="1"/>
          <p:nvPr/>
        </p:nvSpPr>
        <p:spPr>
          <a:xfrm>
            <a:off x="1219200" y="8496300"/>
            <a:ext cx="5372100" cy="506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578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BY: Nathaniel Talens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3B501A-27A4-9D70-1838-CB4342B9B7CA}"/>
              </a:ext>
            </a:extLst>
          </p:cNvPr>
          <p:cNvSpPr txBox="1"/>
          <p:nvPr/>
        </p:nvSpPr>
        <p:spPr>
          <a:xfrm>
            <a:off x="1219200" y="9258300"/>
            <a:ext cx="10137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spc="385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(link here)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703951-BA45-537E-1318-7260E879DEA5}"/>
              </a:ext>
            </a:extLst>
          </p:cNvPr>
          <p:cNvSpPr/>
          <p:nvPr/>
        </p:nvSpPr>
        <p:spPr>
          <a:xfrm>
            <a:off x="0" y="-76200"/>
            <a:ext cx="18364200" cy="10477500"/>
          </a:xfrm>
          <a:prstGeom prst="rect">
            <a:avLst/>
          </a:prstGeom>
          <a:solidFill>
            <a:srgbClr val="FC673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DDA7FD-3476-2E99-5ACE-F80842125B5E}"/>
              </a:ext>
            </a:extLst>
          </p:cNvPr>
          <p:cNvSpPr/>
          <p:nvPr/>
        </p:nvSpPr>
        <p:spPr>
          <a:xfrm>
            <a:off x="0" y="-76200"/>
            <a:ext cx="18364200" cy="10477500"/>
          </a:xfrm>
          <a:prstGeom prst="rect">
            <a:avLst/>
          </a:prstGeom>
          <a:solidFill>
            <a:srgbClr val="1E1E1E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3566D70-2E17-09BA-1A82-F9F6D6ADE2E3}"/>
              </a:ext>
            </a:extLst>
          </p:cNvPr>
          <p:cNvSpPr txBox="1"/>
          <p:nvPr/>
        </p:nvSpPr>
        <p:spPr>
          <a:xfrm>
            <a:off x="1028700" y="1238250"/>
            <a:ext cx="8289333" cy="2568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646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IS CNI?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934F30C-04AA-4CB9-CD0B-913F71B69667}"/>
              </a:ext>
            </a:extLst>
          </p:cNvPr>
          <p:cNvSpPr txBox="1"/>
          <p:nvPr/>
        </p:nvSpPr>
        <p:spPr>
          <a:xfrm>
            <a:off x="1028700" y="6321657"/>
            <a:ext cx="4720040" cy="170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Critical systems essential for a country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368FEA2A-1002-66DA-EAF5-89A7C247FE31}"/>
              </a:ext>
            </a:extLst>
          </p:cNvPr>
          <p:cNvSpPr txBox="1"/>
          <p:nvPr/>
        </p:nvSpPr>
        <p:spPr>
          <a:xfrm>
            <a:off x="6560458" y="6321657"/>
            <a:ext cx="4078688" cy="227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Includes energy, transport, healthcare, and water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9CF6BF89-5A41-B9E7-1D9D-F6CF285F15C8}"/>
              </a:ext>
            </a:extLst>
          </p:cNvPr>
          <p:cNvSpPr txBox="1"/>
          <p:nvPr/>
        </p:nvSpPr>
        <p:spPr>
          <a:xfrm>
            <a:off x="12221309" y="6321657"/>
            <a:ext cx="5037991" cy="170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Disruption can cause major national problems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0A7E479F-DD8B-D910-E21D-D5AFD20D6B6A}"/>
              </a:ext>
            </a:extLst>
          </p:cNvPr>
          <p:cNvSpPr txBox="1"/>
          <p:nvPr/>
        </p:nvSpPr>
        <p:spPr>
          <a:xfrm>
            <a:off x="1028700" y="4893265"/>
            <a:ext cx="2513101" cy="132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9D686B11-3B61-C5A9-0244-668832655167}"/>
              </a:ext>
            </a:extLst>
          </p:cNvPr>
          <p:cNvSpPr txBox="1"/>
          <p:nvPr/>
        </p:nvSpPr>
        <p:spPr>
          <a:xfrm>
            <a:off x="6560458" y="4893265"/>
            <a:ext cx="2513101" cy="132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EAE880E6-7EC3-A0B8-75A9-4F0B7781114E}"/>
              </a:ext>
            </a:extLst>
          </p:cNvPr>
          <p:cNvSpPr txBox="1"/>
          <p:nvPr/>
        </p:nvSpPr>
        <p:spPr>
          <a:xfrm>
            <a:off x="12092984" y="4893265"/>
            <a:ext cx="2513101" cy="132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6A87CC-FF5D-0D4E-13BD-3315C33F7181}"/>
              </a:ext>
            </a:extLst>
          </p:cNvPr>
          <p:cNvSpPr/>
          <p:nvPr/>
        </p:nvSpPr>
        <p:spPr>
          <a:xfrm>
            <a:off x="-18440400" y="-38100"/>
            <a:ext cx="18364200" cy="10477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729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D66AF-8830-DCFE-4DA4-4C93E2603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2065111-67C2-289E-FFD5-22B90452BC06}"/>
              </a:ext>
            </a:extLst>
          </p:cNvPr>
          <p:cNvSpPr txBox="1"/>
          <p:nvPr/>
        </p:nvSpPr>
        <p:spPr>
          <a:xfrm>
            <a:off x="1219200" y="2946789"/>
            <a:ext cx="10964333" cy="370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9600" spc="448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Colonial Pipeline Ransomware Attack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F857E38-756D-227B-43B1-F23F465E261E}"/>
              </a:ext>
            </a:extLst>
          </p:cNvPr>
          <p:cNvSpPr txBox="1"/>
          <p:nvPr/>
        </p:nvSpPr>
        <p:spPr>
          <a:xfrm>
            <a:off x="1219200" y="8496300"/>
            <a:ext cx="5372100" cy="506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578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BY: Nathaniel Talens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5D754A8-7AEF-D068-50A4-01C1A3DDA326}"/>
              </a:ext>
            </a:extLst>
          </p:cNvPr>
          <p:cNvSpPr txBox="1"/>
          <p:nvPr/>
        </p:nvSpPr>
        <p:spPr>
          <a:xfrm>
            <a:off x="1219200" y="9258300"/>
            <a:ext cx="1013797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 spc="385" dirty="0">
                <a:solidFill>
                  <a:srgbClr val="FC6736"/>
                </a:solidFill>
                <a:latin typeface="Raleway Bold"/>
                <a:ea typeface="Raleway Bold"/>
                <a:cs typeface="Raleway Bold"/>
                <a:sym typeface="Raleway Bold"/>
              </a:rPr>
              <a:t>(link here)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AB1A5B-A490-D890-A73B-A14D8E7510AE}"/>
              </a:ext>
            </a:extLst>
          </p:cNvPr>
          <p:cNvSpPr/>
          <p:nvPr/>
        </p:nvSpPr>
        <p:spPr>
          <a:xfrm>
            <a:off x="0" y="-76200"/>
            <a:ext cx="18364200" cy="10477500"/>
          </a:xfrm>
          <a:prstGeom prst="rect">
            <a:avLst/>
          </a:prstGeom>
          <a:solidFill>
            <a:srgbClr val="FC673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BDAB8-1A21-B81D-31F6-FE5BC522F2FB}"/>
              </a:ext>
            </a:extLst>
          </p:cNvPr>
          <p:cNvSpPr/>
          <p:nvPr/>
        </p:nvSpPr>
        <p:spPr>
          <a:xfrm>
            <a:off x="0" y="-76200"/>
            <a:ext cx="18364200" cy="10477500"/>
          </a:xfrm>
          <a:prstGeom prst="rect">
            <a:avLst/>
          </a:prstGeom>
          <a:solidFill>
            <a:srgbClr val="1E1E1E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71C93E72-5684-67CC-0CC8-B32BCAF4C1F3}"/>
              </a:ext>
            </a:extLst>
          </p:cNvPr>
          <p:cNvSpPr txBox="1"/>
          <p:nvPr/>
        </p:nvSpPr>
        <p:spPr>
          <a:xfrm>
            <a:off x="1028700" y="1238250"/>
            <a:ext cx="8289333" cy="2568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646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IS CNI?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C1F910F7-5520-AC45-B3D5-E0E52FAEFF42}"/>
              </a:ext>
            </a:extLst>
          </p:cNvPr>
          <p:cNvSpPr txBox="1"/>
          <p:nvPr/>
        </p:nvSpPr>
        <p:spPr>
          <a:xfrm>
            <a:off x="1028700" y="6321657"/>
            <a:ext cx="4720040" cy="170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Critical systems essential for a country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05E7805F-7C5D-A34B-7358-19D26DEF0F6D}"/>
              </a:ext>
            </a:extLst>
          </p:cNvPr>
          <p:cNvSpPr txBox="1"/>
          <p:nvPr/>
        </p:nvSpPr>
        <p:spPr>
          <a:xfrm>
            <a:off x="6560458" y="6321657"/>
            <a:ext cx="4078688" cy="2278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Includes energy, transport, healthcare, and water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6F6382D-AC04-AB72-24CD-A013DFD722C7}"/>
              </a:ext>
            </a:extLst>
          </p:cNvPr>
          <p:cNvSpPr txBox="1"/>
          <p:nvPr/>
        </p:nvSpPr>
        <p:spPr>
          <a:xfrm>
            <a:off x="12221309" y="6321657"/>
            <a:ext cx="5037991" cy="170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Disruption can cause major national problems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FE156166-7D68-02C8-EEAD-5D9040A9C029}"/>
              </a:ext>
            </a:extLst>
          </p:cNvPr>
          <p:cNvSpPr txBox="1"/>
          <p:nvPr/>
        </p:nvSpPr>
        <p:spPr>
          <a:xfrm>
            <a:off x="1028700" y="4893265"/>
            <a:ext cx="2513101" cy="132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3AD80BB6-BCB4-B7D6-4174-4DE8D467281D}"/>
              </a:ext>
            </a:extLst>
          </p:cNvPr>
          <p:cNvSpPr txBox="1"/>
          <p:nvPr/>
        </p:nvSpPr>
        <p:spPr>
          <a:xfrm>
            <a:off x="6560458" y="4893265"/>
            <a:ext cx="2513101" cy="132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5EC8FEFD-9629-D7CD-B760-33562D43B88B}"/>
              </a:ext>
            </a:extLst>
          </p:cNvPr>
          <p:cNvSpPr txBox="1"/>
          <p:nvPr/>
        </p:nvSpPr>
        <p:spPr>
          <a:xfrm>
            <a:off x="12092984" y="4893265"/>
            <a:ext cx="2513101" cy="1320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7"/>
              </a:lnSpc>
            </a:pPr>
            <a:r>
              <a:rPr lang="en-US" sz="10099" spc="-47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58FC53-6480-93D2-A17F-F8F36019558F}"/>
              </a:ext>
            </a:extLst>
          </p:cNvPr>
          <p:cNvSpPr/>
          <p:nvPr/>
        </p:nvSpPr>
        <p:spPr>
          <a:xfrm>
            <a:off x="0" y="-342900"/>
            <a:ext cx="18364200" cy="10782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E1BB213D-0F09-8BE5-6B85-A19E829FFD73}"/>
              </a:ext>
            </a:extLst>
          </p:cNvPr>
          <p:cNvSpPr txBox="1"/>
          <p:nvPr/>
        </p:nvSpPr>
        <p:spPr>
          <a:xfrm>
            <a:off x="1028700" y="1031544"/>
            <a:ext cx="12505773" cy="176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0"/>
              </a:lnSpc>
            </a:pPr>
            <a:r>
              <a:rPr lang="en-US" sz="8000" spc="-536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 OF THE ATTACK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E68AC50-AD01-EFDE-EBF1-938284CF0122}"/>
              </a:ext>
            </a:extLst>
          </p:cNvPr>
          <p:cNvSpPr txBox="1"/>
          <p:nvPr/>
        </p:nvSpPr>
        <p:spPr>
          <a:xfrm>
            <a:off x="914400" y="3162300"/>
            <a:ext cx="15240000" cy="65532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54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Target: Colonial Pipeline (USA)</a:t>
            </a:r>
          </a:p>
          <a:p>
            <a:pPr algn="l">
              <a:lnSpc>
                <a:spcPct val="200000"/>
              </a:lnSpc>
            </a:pPr>
            <a:r>
              <a:rPr lang="en-US" sz="54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Type: Ransomware attack</a:t>
            </a:r>
          </a:p>
          <a:p>
            <a:pPr algn="l">
              <a:lnSpc>
                <a:spcPct val="200000"/>
              </a:lnSpc>
            </a:pPr>
            <a:r>
              <a:rPr lang="en-US" sz="54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Date: May 2021</a:t>
            </a:r>
          </a:p>
          <a:p>
            <a:pPr algn="l">
              <a:lnSpc>
                <a:spcPct val="200000"/>
              </a:lnSpc>
            </a:pPr>
            <a:r>
              <a:rPr lang="en-US" sz="5400" dirty="0">
                <a:solidFill>
                  <a:srgbClr val="FC6736"/>
                </a:solidFill>
                <a:latin typeface="Archivo Black"/>
                <a:ea typeface="Archivo Black"/>
                <a:cs typeface="Archivo Black"/>
                <a:sym typeface="Archivo Black"/>
              </a:rPr>
              <a:t>Attacker group: DarkSide</a:t>
            </a:r>
          </a:p>
        </p:txBody>
      </p:sp>
    </p:spTree>
    <p:extLst>
      <p:ext uri="{BB962C8B-B14F-4D97-AF65-F5344CB8AC3E}">
        <p14:creationId xmlns:p14="http://schemas.microsoft.com/office/powerpoint/2010/main" val="23509046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506" y="3992086"/>
            <a:ext cx="4249511" cy="5086350"/>
            <a:chOff x="0" y="0"/>
            <a:chExt cx="812800" cy="9728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972861"/>
            </a:xfrm>
            <a:custGeom>
              <a:avLst/>
              <a:gdLst/>
              <a:ahLst/>
              <a:cxnLst/>
              <a:rect l="l" t="t" r="r" b="b"/>
              <a:pathLst>
                <a:path w="812800" h="972861">
                  <a:moveTo>
                    <a:pt x="0" y="0"/>
                  </a:moveTo>
                  <a:lnTo>
                    <a:pt x="812800" y="0"/>
                  </a:lnTo>
                  <a:lnTo>
                    <a:pt x="812800" y="972861"/>
                  </a:lnTo>
                  <a:lnTo>
                    <a:pt x="0" y="972861"/>
                  </a:lnTo>
                  <a:close/>
                </a:path>
              </a:pathLst>
            </a:custGeom>
            <a:solidFill>
              <a:srgbClr val="E3DC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812800" cy="953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93430" y="2807176"/>
            <a:ext cx="4249511" cy="5086350"/>
            <a:chOff x="0" y="0"/>
            <a:chExt cx="812800" cy="9728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972861"/>
            </a:xfrm>
            <a:custGeom>
              <a:avLst/>
              <a:gdLst/>
              <a:ahLst/>
              <a:cxnLst/>
              <a:rect l="l" t="t" r="r" b="b"/>
              <a:pathLst>
                <a:path w="812800" h="972861">
                  <a:moveTo>
                    <a:pt x="0" y="0"/>
                  </a:moveTo>
                  <a:lnTo>
                    <a:pt x="812800" y="0"/>
                  </a:lnTo>
                  <a:lnTo>
                    <a:pt x="812800" y="972861"/>
                  </a:lnTo>
                  <a:lnTo>
                    <a:pt x="0" y="97286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812800" cy="953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20860" y="423512"/>
            <a:ext cx="11046279" cy="1753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7000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HOW THE ATTACK HAPPENED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90590" y="3992086"/>
            <a:ext cx="4249511" cy="5086350"/>
            <a:chOff x="0" y="0"/>
            <a:chExt cx="812800" cy="9728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972861"/>
            </a:xfrm>
            <a:custGeom>
              <a:avLst/>
              <a:gdLst/>
              <a:ahLst/>
              <a:cxnLst/>
              <a:rect l="l" t="t" r="r" b="b"/>
              <a:pathLst>
                <a:path w="812800" h="972861">
                  <a:moveTo>
                    <a:pt x="0" y="0"/>
                  </a:moveTo>
                  <a:lnTo>
                    <a:pt x="812800" y="0"/>
                  </a:lnTo>
                  <a:lnTo>
                    <a:pt x="812800" y="972861"/>
                  </a:lnTo>
                  <a:lnTo>
                    <a:pt x="0" y="972861"/>
                  </a:lnTo>
                  <a:close/>
                </a:path>
              </a:pathLst>
            </a:custGeom>
            <a:solidFill>
              <a:srgbClr val="E3DCD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812800" cy="953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92514" y="2807176"/>
            <a:ext cx="4249511" cy="5086350"/>
            <a:chOff x="0" y="0"/>
            <a:chExt cx="812800" cy="9728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972861"/>
            </a:xfrm>
            <a:custGeom>
              <a:avLst/>
              <a:gdLst/>
              <a:ahLst/>
              <a:cxnLst/>
              <a:rect l="l" t="t" r="r" b="b"/>
              <a:pathLst>
                <a:path w="812800" h="972861">
                  <a:moveTo>
                    <a:pt x="0" y="0"/>
                  </a:moveTo>
                  <a:lnTo>
                    <a:pt x="812800" y="0"/>
                  </a:lnTo>
                  <a:lnTo>
                    <a:pt x="812800" y="972861"/>
                  </a:lnTo>
                  <a:lnTo>
                    <a:pt x="0" y="97286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812800" cy="953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2955" y="4684139"/>
            <a:ext cx="3906611" cy="3801842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/>
            <a:r>
              <a:rPr lang="en-US" sz="4100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Hackers accessed system through a compromised password</a:t>
            </a: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3A0D5B4A-1F91-1C8B-ABEC-FF4454FDFBF3}"/>
              </a:ext>
            </a:extLst>
          </p:cNvPr>
          <p:cNvSpPr txBox="1"/>
          <p:nvPr/>
        </p:nvSpPr>
        <p:spPr>
          <a:xfrm>
            <a:off x="4962498" y="3242579"/>
            <a:ext cx="3906611" cy="3801842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No multi-factor authentication was used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BC87DFC4-0A03-8043-30FF-4889F60CE642}"/>
              </a:ext>
            </a:extLst>
          </p:cNvPr>
          <p:cNvSpPr txBox="1"/>
          <p:nvPr/>
        </p:nvSpPr>
        <p:spPr>
          <a:xfrm>
            <a:off x="9462039" y="4684139"/>
            <a:ext cx="3906611" cy="3801842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/>
            <a:r>
              <a:rPr lang="en-US" sz="6000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Malware installed to lock systems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863F9749-D680-D1B3-2208-FF1FF725AEE7}"/>
              </a:ext>
            </a:extLst>
          </p:cNvPr>
          <p:cNvSpPr txBox="1"/>
          <p:nvPr/>
        </p:nvSpPr>
        <p:spPr>
          <a:xfrm>
            <a:off x="13963963" y="3569976"/>
            <a:ext cx="3906611" cy="3147047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/>
            <a:r>
              <a:rPr lang="en-US" sz="5200" dirty="0">
                <a:solidFill>
                  <a:schemeClr val="bg1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Company forced to shut down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6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15200" y="8079885"/>
            <a:ext cx="10324839" cy="157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04"/>
              </a:lnSpc>
            </a:pPr>
            <a:r>
              <a:rPr lang="en-US" sz="7200" spc="-482" dirty="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BREACH DETAILS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4997" y="630918"/>
            <a:ext cx="16404303" cy="679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8" lvl="1" indent="-485774" algn="l">
              <a:lnSpc>
                <a:spcPct val="150000"/>
              </a:lnSpc>
              <a:buFont typeface="Arial"/>
              <a:buChar char="•"/>
            </a:pPr>
            <a:r>
              <a:rPr lang="en-US" sz="6000" dirty="0">
                <a:solidFill>
                  <a:srgbClr val="1C1C1C"/>
                </a:solidFill>
                <a:latin typeface="Archivo Narrow" panose="020B0604020202020204" charset="0"/>
                <a:ea typeface="Archivo Narrow Bold"/>
                <a:cs typeface="Archivo Narrow Bold"/>
                <a:sym typeface="Archivo Narrow Bold"/>
              </a:rPr>
              <a:t>Around 100 GB of data stolen</a:t>
            </a:r>
          </a:p>
          <a:p>
            <a:pPr marL="485774" lvl="1" algn="l">
              <a:lnSpc>
                <a:spcPct val="150000"/>
              </a:lnSpc>
            </a:pPr>
            <a:endParaRPr lang="en-US" sz="6000" dirty="0">
              <a:solidFill>
                <a:srgbClr val="1C1C1C"/>
              </a:solidFill>
              <a:latin typeface="Archivo Narrow" panose="020B0604020202020204" charset="0"/>
              <a:ea typeface="Archivo Narrow Bold"/>
              <a:cs typeface="Archivo Narrow Bold"/>
              <a:sym typeface="Archivo Narrow Bold"/>
            </a:endParaRPr>
          </a:p>
          <a:p>
            <a:pPr marL="971548" lvl="1" indent="-485774" algn="l">
              <a:lnSpc>
                <a:spcPct val="150000"/>
              </a:lnSpc>
              <a:buFont typeface="Arial"/>
              <a:buChar char="•"/>
            </a:pPr>
            <a:r>
              <a:rPr lang="en-US" sz="6000" dirty="0">
                <a:solidFill>
                  <a:srgbClr val="1C1C1C"/>
                </a:solidFill>
                <a:latin typeface="Archivo Narrow" panose="020B0604020202020204" charset="0"/>
                <a:ea typeface="Archivo Narrow Bold"/>
                <a:cs typeface="Archivo Narrow Bold"/>
                <a:sym typeface="Archivo Narrow Bold"/>
              </a:rPr>
              <a:t>Included business and financial information</a:t>
            </a:r>
          </a:p>
          <a:p>
            <a:pPr marL="485774" lvl="1" algn="l">
              <a:lnSpc>
                <a:spcPct val="150000"/>
              </a:lnSpc>
            </a:pPr>
            <a:endParaRPr lang="en-US" sz="6000" dirty="0">
              <a:solidFill>
                <a:srgbClr val="1C1C1C"/>
              </a:solidFill>
              <a:latin typeface="Archivo Narrow" panose="020B0604020202020204" charset="0"/>
              <a:ea typeface="Archivo Narrow Bold"/>
              <a:cs typeface="Archivo Narrow Bold"/>
              <a:sym typeface="Archivo Narrow Bold"/>
            </a:endParaRPr>
          </a:p>
          <a:p>
            <a:pPr marL="971548" lvl="1" indent="-485774" algn="l">
              <a:lnSpc>
                <a:spcPct val="150000"/>
              </a:lnSpc>
              <a:buFont typeface="Arial"/>
              <a:buChar char="•"/>
            </a:pPr>
            <a:r>
              <a:rPr lang="en-US" sz="6000" dirty="0">
                <a:solidFill>
                  <a:srgbClr val="1C1C1C"/>
                </a:solidFill>
                <a:latin typeface="Archivo Narrow" panose="020B0604020202020204" charset="0"/>
                <a:ea typeface="Archivo Narrow Bold"/>
                <a:cs typeface="Archivo Narrow Bold"/>
                <a:sym typeface="Archivo Narrow Bold"/>
              </a:rPr>
              <a:t>Data used for extortion</a:t>
            </a:r>
            <a:endParaRPr lang="en-US" sz="6000" dirty="0">
              <a:solidFill>
                <a:srgbClr val="1C1C1C"/>
              </a:solidFill>
              <a:latin typeface="Archivo Narrow" panose="020B0604020202020204" charset="0"/>
              <a:ea typeface="Archivo Narrow"/>
              <a:cs typeface="Archivo Narrow"/>
              <a:sym typeface="Archivo Narr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4491" y="972911"/>
            <a:ext cx="14614809" cy="747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439"/>
              </a:lnSpc>
            </a:pPr>
            <a:r>
              <a:rPr lang="en-US" sz="6399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TIMELINE OF EVENTS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2175275"/>
            <a:ext cx="14243070" cy="713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5" lvl="1" indent="-356233" algn="just">
              <a:lnSpc>
                <a:spcPct val="200000"/>
              </a:lnSpc>
              <a:buFont typeface="Arial"/>
              <a:buChar char="•"/>
            </a:pPr>
            <a:r>
              <a:rPr lang="en-US" sz="6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May 7, 2021: Attack detected</a:t>
            </a:r>
          </a:p>
          <a:p>
            <a:pPr marL="712465" lvl="1" indent="-356233" algn="just">
              <a:lnSpc>
                <a:spcPct val="200000"/>
              </a:lnSpc>
              <a:buFont typeface="Arial"/>
              <a:buChar char="•"/>
            </a:pPr>
            <a:r>
              <a:rPr lang="en-US" sz="6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Pipeline operations shut down</a:t>
            </a:r>
          </a:p>
          <a:p>
            <a:pPr marL="712465" lvl="1" indent="-356233" algn="just">
              <a:lnSpc>
                <a:spcPct val="200000"/>
              </a:lnSpc>
              <a:buFont typeface="Arial"/>
              <a:buChar char="•"/>
            </a:pPr>
            <a:r>
              <a:rPr lang="en-US" sz="6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Fuel supply disrupted</a:t>
            </a:r>
          </a:p>
          <a:p>
            <a:pPr marL="712465" lvl="1" indent="-356233" algn="just">
              <a:lnSpc>
                <a:spcPct val="200000"/>
              </a:lnSpc>
              <a:buFont typeface="Arial"/>
              <a:buChar char="•"/>
            </a:pPr>
            <a:r>
              <a:rPr lang="en-US" sz="6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Ransom paid to regain access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445" y="1638300"/>
            <a:ext cx="18516883" cy="8879302"/>
            <a:chOff x="0" y="0"/>
            <a:chExt cx="4876875" cy="20727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6875" cy="2072702"/>
            </a:xfrm>
            <a:custGeom>
              <a:avLst/>
              <a:gdLst/>
              <a:ahLst/>
              <a:cxnLst/>
              <a:rect l="l" t="t" r="r" b="b"/>
              <a:pathLst>
                <a:path w="4816592" h="2072702">
                  <a:moveTo>
                    <a:pt x="0" y="0"/>
                  </a:moveTo>
                  <a:lnTo>
                    <a:pt x="4816592" y="0"/>
                  </a:lnTo>
                  <a:lnTo>
                    <a:pt x="4816592" y="2072702"/>
                  </a:lnTo>
                  <a:lnTo>
                    <a:pt x="0" y="2072702"/>
                  </a:lnTo>
                  <a:close/>
                </a:path>
              </a:pathLst>
            </a:custGeom>
            <a:solidFill>
              <a:srgbClr val="FC67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816593" cy="2053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387497"/>
            <a:ext cx="11991933" cy="88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  <a:spcBef>
                <a:spcPct val="0"/>
              </a:spcBef>
            </a:pPr>
            <a:r>
              <a:rPr lang="en-US" sz="6399" dirty="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COUNTRIES AFFECTED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581900"/>
            <a:ext cx="5079715" cy="152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Direct impact: </a:t>
            </a:r>
            <a:r>
              <a:rPr lang="en-US" sz="4399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United States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4140" y="4875628"/>
            <a:ext cx="5079715" cy="152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Indirect impact: </a:t>
            </a:r>
            <a:r>
              <a:rPr lang="en-US" sz="4399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Global fuel markets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01600" y="2628900"/>
            <a:ext cx="5079715" cy="145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dirty="0">
                <a:solidFill>
                  <a:srgbClr val="1C1C1C"/>
                </a:solidFill>
                <a:latin typeface="Raleway"/>
                <a:ea typeface="Raleway"/>
                <a:cs typeface="Raleway"/>
                <a:sym typeface="Raleway"/>
              </a:rPr>
              <a:t>Increased fuel prices worldwide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46D301-4EFD-03BE-031A-59FBFFA15688}"/>
              </a:ext>
            </a:extLst>
          </p:cNvPr>
          <p:cNvSpPr/>
          <p:nvPr/>
        </p:nvSpPr>
        <p:spPr>
          <a:xfrm>
            <a:off x="-61498" y="-114300"/>
            <a:ext cx="18349498" cy="106299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1028700" y="7399556"/>
            <a:ext cx="12449396" cy="229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8"/>
              </a:lnSpc>
            </a:pPr>
            <a:r>
              <a:rPr lang="en-US" sz="10400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COMPANIES INVOLVED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83102" y="1155954"/>
            <a:ext cx="5128361" cy="1965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6"/>
              </a:lnSpc>
              <a:spcBef>
                <a:spcPct val="0"/>
              </a:spcBef>
            </a:pPr>
            <a:r>
              <a:rPr lang="en-US" sz="4800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Colonial Pipeline (main target)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35067" y="3178302"/>
            <a:ext cx="5417866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6"/>
              </a:lnSpc>
              <a:spcBef>
                <a:spcPct val="0"/>
              </a:spcBef>
            </a:pPr>
            <a:r>
              <a:rPr lang="en-US" sz="4800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Fuel distributors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00338" y="4758464"/>
            <a:ext cx="5406367" cy="1736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4"/>
              </a:lnSpc>
              <a:spcBef>
                <a:spcPct val="0"/>
              </a:spcBef>
            </a:pPr>
            <a:r>
              <a:rPr lang="en-US" sz="4200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Airlines and transportation companies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6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98041" y="923925"/>
            <a:ext cx="10691919" cy="180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5"/>
              </a:lnSpc>
              <a:spcBef>
                <a:spcPct val="0"/>
              </a:spcBef>
            </a:pPr>
            <a:r>
              <a:rPr lang="en-US" sz="6500" dirty="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IMPACTS OF THE ATTACK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96045" y="3662519"/>
            <a:ext cx="51816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dirty="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Fuel shortages in multiple states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82079" y="7645124"/>
            <a:ext cx="4409531" cy="43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4800" dirty="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Panic buying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62903" y="4077833"/>
            <a:ext cx="4144191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dirty="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Economic losses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BC279DC-8776-B3C5-BC82-05DCE2E921A9}"/>
              </a:ext>
            </a:extLst>
          </p:cNvPr>
          <p:cNvSpPr txBox="1"/>
          <p:nvPr/>
        </p:nvSpPr>
        <p:spPr>
          <a:xfrm>
            <a:off x="10896599" y="6906460"/>
            <a:ext cx="48768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4800" dirty="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Public inconvenience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608660" y="1028700"/>
            <a:ext cx="1473654" cy="1534886"/>
            <a:chOff x="0" y="0"/>
            <a:chExt cx="388123" cy="4042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8123" cy="404250"/>
            </a:xfrm>
            <a:custGeom>
              <a:avLst/>
              <a:gdLst/>
              <a:ahLst/>
              <a:cxnLst/>
              <a:rect l="l" t="t" r="r" b="b"/>
              <a:pathLst>
                <a:path w="388123" h="404250">
                  <a:moveTo>
                    <a:pt x="131339" y="0"/>
                  </a:moveTo>
                  <a:lnTo>
                    <a:pt x="256784" y="0"/>
                  </a:lnTo>
                  <a:cubicBezTo>
                    <a:pt x="291617" y="0"/>
                    <a:pt x="325024" y="13837"/>
                    <a:pt x="349654" y="38468"/>
                  </a:cubicBezTo>
                  <a:cubicBezTo>
                    <a:pt x="374285" y="63099"/>
                    <a:pt x="388123" y="96506"/>
                    <a:pt x="388123" y="131339"/>
                  </a:cubicBezTo>
                  <a:lnTo>
                    <a:pt x="388123" y="272911"/>
                  </a:lnTo>
                  <a:cubicBezTo>
                    <a:pt x="388123" y="307744"/>
                    <a:pt x="374285" y="341151"/>
                    <a:pt x="349654" y="365781"/>
                  </a:cubicBezTo>
                  <a:cubicBezTo>
                    <a:pt x="325024" y="390412"/>
                    <a:pt x="291617" y="404250"/>
                    <a:pt x="256784" y="404250"/>
                  </a:cubicBezTo>
                  <a:lnTo>
                    <a:pt x="131339" y="404250"/>
                  </a:lnTo>
                  <a:cubicBezTo>
                    <a:pt x="96506" y="404250"/>
                    <a:pt x="63099" y="390412"/>
                    <a:pt x="38468" y="365781"/>
                  </a:cubicBezTo>
                  <a:cubicBezTo>
                    <a:pt x="13837" y="341151"/>
                    <a:pt x="0" y="307744"/>
                    <a:pt x="0" y="272911"/>
                  </a:cubicBezTo>
                  <a:lnTo>
                    <a:pt x="0" y="131339"/>
                  </a:lnTo>
                  <a:cubicBezTo>
                    <a:pt x="0" y="96506"/>
                    <a:pt x="13837" y="63099"/>
                    <a:pt x="38468" y="38468"/>
                  </a:cubicBezTo>
                  <a:cubicBezTo>
                    <a:pt x="63099" y="13837"/>
                    <a:pt x="96506" y="0"/>
                    <a:pt x="131339" y="0"/>
                  </a:cubicBezTo>
                  <a:close/>
                </a:path>
              </a:pathLst>
            </a:custGeom>
            <a:solidFill>
              <a:srgbClr val="FC67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388123" cy="38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02849" y="1017240"/>
            <a:ext cx="1473654" cy="1534886"/>
            <a:chOff x="0" y="0"/>
            <a:chExt cx="388123" cy="404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8123" cy="404250"/>
            </a:xfrm>
            <a:custGeom>
              <a:avLst/>
              <a:gdLst/>
              <a:ahLst/>
              <a:cxnLst/>
              <a:rect l="l" t="t" r="r" b="b"/>
              <a:pathLst>
                <a:path w="388123" h="404250">
                  <a:moveTo>
                    <a:pt x="131339" y="0"/>
                  </a:moveTo>
                  <a:lnTo>
                    <a:pt x="256784" y="0"/>
                  </a:lnTo>
                  <a:cubicBezTo>
                    <a:pt x="291617" y="0"/>
                    <a:pt x="325024" y="13837"/>
                    <a:pt x="349654" y="38468"/>
                  </a:cubicBezTo>
                  <a:cubicBezTo>
                    <a:pt x="374285" y="63099"/>
                    <a:pt x="388123" y="96506"/>
                    <a:pt x="388123" y="131339"/>
                  </a:cubicBezTo>
                  <a:lnTo>
                    <a:pt x="388123" y="272911"/>
                  </a:lnTo>
                  <a:cubicBezTo>
                    <a:pt x="388123" y="307744"/>
                    <a:pt x="374285" y="341151"/>
                    <a:pt x="349654" y="365781"/>
                  </a:cubicBezTo>
                  <a:cubicBezTo>
                    <a:pt x="325024" y="390412"/>
                    <a:pt x="291617" y="404250"/>
                    <a:pt x="256784" y="404250"/>
                  </a:cubicBezTo>
                  <a:lnTo>
                    <a:pt x="131339" y="404250"/>
                  </a:lnTo>
                  <a:cubicBezTo>
                    <a:pt x="96506" y="404250"/>
                    <a:pt x="63099" y="390412"/>
                    <a:pt x="38468" y="365781"/>
                  </a:cubicBezTo>
                  <a:cubicBezTo>
                    <a:pt x="13837" y="341151"/>
                    <a:pt x="0" y="307744"/>
                    <a:pt x="0" y="272911"/>
                  </a:cubicBezTo>
                  <a:lnTo>
                    <a:pt x="0" y="131339"/>
                  </a:lnTo>
                  <a:cubicBezTo>
                    <a:pt x="0" y="96506"/>
                    <a:pt x="13837" y="63099"/>
                    <a:pt x="38468" y="38468"/>
                  </a:cubicBezTo>
                  <a:cubicBezTo>
                    <a:pt x="63099" y="13837"/>
                    <a:pt x="96506" y="0"/>
                    <a:pt x="131339" y="0"/>
                  </a:cubicBezTo>
                  <a:close/>
                </a:path>
              </a:pathLst>
            </a:custGeom>
            <a:solidFill>
              <a:srgbClr val="FFF7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388123" cy="38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06000" y="1028700"/>
            <a:ext cx="1473654" cy="1534886"/>
            <a:chOff x="0" y="0"/>
            <a:chExt cx="388123" cy="404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8123" cy="404250"/>
            </a:xfrm>
            <a:custGeom>
              <a:avLst/>
              <a:gdLst/>
              <a:ahLst/>
              <a:cxnLst/>
              <a:rect l="l" t="t" r="r" b="b"/>
              <a:pathLst>
                <a:path w="388123" h="404250">
                  <a:moveTo>
                    <a:pt x="131339" y="0"/>
                  </a:moveTo>
                  <a:lnTo>
                    <a:pt x="256784" y="0"/>
                  </a:lnTo>
                  <a:cubicBezTo>
                    <a:pt x="291617" y="0"/>
                    <a:pt x="325024" y="13837"/>
                    <a:pt x="349654" y="38468"/>
                  </a:cubicBezTo>
                  <a:cubicBezTo>
                    <a:pt x="374285" y="63099"/>
                    <a:pt x="388123" y="96506"/>
                    <a:pt x="388123" y="131339"/>
                  </a:cubicBezTo>
                  <a:lnTo>
                    <a:pt x="388123" y="272911"/>
                  </a:lnTo>
                  <a:cubicBezTo>
                    <a:pt x="388123" y="307744"/>
                    <a:pt x="374285" y="341151"/>
                    <a:pt x="349654" y="365781"/>
                  </a:cubicBezTo>
                  <a:cubicBezTo>
                    <a:pt x="325024" y="390412"/>
                    <a:pt x="291617" y="404250"/>
                    <a:pt x="256784" y="404250"/>
                  </a:cubicBezTo>
                  <a:lnTo>
                    <a:pt x="131339" y="404250"/>
                  </a:lnTo>
                  <a:cubicBezTo>
                    <a:pt x="96506" y="404250"/>
                    <a:pt x="63099" y="390412"/>
                    <a:pt x="38468" y="365781"/>
                  </a:cubicBezTo>
                  <a:cubicBezTo>
                    <a:pt x="13837" y="341151"/>
                    <a:pt x="0" y="307744"/>
                    <a:pt x="0" y="272911"/>
                  </a:cubicBezTo>
                  <a:lnTo>
                    <a:pt x="0" y="131339"/>
                  </a:lnTo>
                  <a:cubicBezTo>
                    <a:pt x="0" y="96506"/>
                    <a:pt x="13837" y="63099"/>
                    <a:pt x="38468" y="38468"/>
                  </a:cubicBezTo>
                  <a:cubicBezTo>
                    <a:pt x="63099" y="13837"/>
                    <a:pt x="96506" y="0"/>
                    <a:pt x="131339" y="0"/>
                  </a:cubicBezTo>
                  <a:close/>
                </a:path>
              </a:pathLst>
            </a:custGeom>
            <a:solidFill>
              <a:srgbClr val="F2EBE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388123" cy="38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57230" y="6805793"/>
            <a:ext cx="16783140" cy="2857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59"/>
              </a:lnSpc>
            </a:pPr>
            <a:r>
              <a:rPr lang="en-US" sz="12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PREVENTION &amp; LESSONS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9060" y="3770526"/>
            <a:ext cx="3366588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4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 strong passwords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63873" y="3524306"/>
            <a:ext cx="43434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Enable multi-factor authentication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48800" y="3359376"/>
            <a:ext cx="3078116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Regular system updates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49326" y="1244963"/>
            <a:ext cx="992322" cy="119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4"/>
              </a:lnSpc>
              <a:spcBef>
                <a:spcPct val="0"/>
              </a:spcBef>
            </a:pPr>
            <a:r>
              <a:rPr lang="en-US" sz="8499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43515" y="1233503"/>
            <a:ext cx="992322" cy="119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4"/>
              </a:lnSpc>
              <a:spcBef>
                <a:spcPct val="0"/>
              </a:spcBef>
            </a:pPr>
            <a:r>
              <a:rPr lang="en-US" sz="8499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46665" y="1244963"/>
            <a:ext cx="992322" cy="119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4"/>
              </a:lnSpc>
              <a:spcBef>
                <a:spcPct val="0"/>
              </a:spcBef>
            </a:pPr>
            <a:r>
              <a:rPr lang="en-US" sz="8499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grpSp>
        <p:nvGrpSpPr>
          <p:cNvPr id="29" name="Group 10">
            <a:extLst>
              <a:ext uri="{FF2B5EF4-FFF2-40B4-BE49-F238E27FC236}">
                <a16:creationId xmlns:a16="http://schemas.microsoft.com/office/drawing/2014/main" id="{F7BCC3CB-D174-E4D6-9D85-A46D0E8F08AE}"/>
              </a:ext>
            </a:extLst>
          </p:cNvPr>
          <p:cNvGrpSpPr/>
          <p:nvPr/>
        </p:nvGrpSpPr>
        <p:grpSpPr>
          <a:xfrm>
            <a:off x="14098905" y="1017240"/>
            <a:ext cx="1473654" cy="1534886"/>
            <a:chOff x="0" y="0"/>
            <a:chExt cx="388123" cy="404250"/>
          </a:xfrm>
        </p:grpSpPr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3FED65EE-6159-52B5-0D71-2F10063968FF}"/>
                </a:ext>
              </a:extLst>
            </p:cNvPr>
            <p:cNvSpPr/>
            <p:nvPr/>
          </p:nvSpPr>
          <p:spPr>
            <a:xfrm>
              <a:off x="0" y="0"/>
              <a:ext cx="388123" cy="404250"/>
            </a:xfrm>
            <a:custGeom>
              <a:avLst/>
              <a:gdLst/>
              <a:ahLst/>
              <a:cxnLst/>
              <a:rect l="l" t="t" r="r" b="b"/>
              <a:pathLst>
                <a:path w="388123" h="404250">
                  <a:moveTo>
                    <a:pt x="131339" y="0"/>
                  </a:moveTo>
                  <a:lnTo>
                    <a:pt x="256784" y="0"/>
                  </a:lnTo>
                  <a:cubicBezTo>
                    <a:pt x="291617" y="0"/>
                    <a:pt x="325024" y="13837"/>
                    <a:pt x="349654" y="38468"/>
                  </a:cubicBezTo>
                  <a:cubicBezTo>
                    <a:pt x="374285" y="63099"/>
                    <a:pt x="388123" y="96506"/>
                    <a:pt x="388123" y="131339"/>
                  </a:cubicBezTo>
                  <a:lnTo>
                    <a:pt x="388123" y="272911"/>
                  </a:lnTo>
                  <a:cubicBezTo>
                    <a:pt x="388123" y="307744"/>
                    <a:pt x="374285" y="341151"/>
                    <a:pt x="349654" y="365781"/>
                  </a:cubicBezTo>
                  <a:cubicBezTo>
                    <a:pt x="325024" y="390412"/>
                    <a:pt x="291617" y="404250"/>
                    <a:pt x="256784" y="404250"/>
                  </a:cubicBezTo>
                  <a:lnTo>
                    <a:pt x="131339" y="404250"/>
                  </a:lnTo>
                  <a:cubicBezTo>
                    <a:pt x="96506" y="404250"/>
                    <a:pt x="63099" y="390412"/>
                    <a:pt x="38468" y="365781"/>
                  </a:cubicBezTo>
                  <a:cubicBezTo>
                    <a:pt x="13837" y="341151"/>
                    <a:pt x="0" y="307744"/>
                    <a:pt x="0" y="272911"/>
                  </a:cubicBezTo>
                  <a:lnTo>
                    <a:pt x="0" y="131339"/>
                  </a:lnTo>
                  <a:cubicBezTo>
                    <a:pt x="0" y="96506"/>
                    <a:pt x="13837" y="63099"/>
                    <a:pt x="38468" y="38468"/>
                  </a:cubicBezTo>
                  <a:cubicBezTo>
                    <a:pt x="63099" y="13837"/>
                    <a:pt x="96506" y="0"/>
                    <a:pt x="131339" y="0"/>
                  </a:cubicBezTo>
                  <a:close/>
                </a:path>
              </a:pathLst>
            </a:custGeom>
            <a:solidFill>
              <a:srgbClr val="F2EBE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12">
              <a:extLst>
                <a:ext uri="{FF2B5EF4-FFF2-40B4-BE49-F238E27FC236}">
                  <a16:creationId xmlns:a16="http://schemas.microsoft.com/office/drawing/2014/main" id="{672500C2-E3E1-06B9-A046-D90C64C26307}"/>
                </a:ext>
              </a:extLst>
            </p:cNvPr>
            <p:cNvSpPr txBox="1"/>
            <p:nvPr/>
          </p:nvSpPr>
          <p:spPr>
            <a:xfrm>
              <a:off x="0" y="19050"/>
              <a:ext cx="388123" cy="38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sp>
        <p:nvSpPr>
          <p:cNvPr id="32" name="TextBox 23">
            <a:extLst>
              <a:ext uri="{FF2B5EF4-FFF2-40B4-BE49-F238E27FC236}">
                <a16:creationId xmlns:a16="http://schemas.microsoft.com/office/drawing/2014/main" id="{393B6AA3-16F5-1EE6-107B-0FA14ED528DF}"/>
              </a:ext>
            </a:extLst>
          </p:cNvPr>
          <p:cNvSpPr txBox="1"/>
          <p:nvPr/>
        </p:nvSpPr>
        <p:spPr>
          <a:xfrm>
            <a:off x="14339570" y="1233503"/>
            <a:ext cx="992322" cy="119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4"/>
              </a:lnSpc>
              <a:spcBef>
                <a:spcPct val="0"/>
              </a:spcBef>
            </a:pPr>
            <a:r>
              <a:rPr lang="en-US" sz="8499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46ADEAEA-35A1-81EF-95F5-57D9FAF86777}"/>
              </a:ext>
            </a:extLst>
          </p:cNvPr>
          <p:cNvSpPr txBox="1"/>
          <p:nvPr/>
        </p:nvSpPr>
        <p:spPr>
          <a:xfrm>
            <a:off x="12877800" y="3390900"/>
            <a:ext cx="46228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Employee cybersecurity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2975" y="1101271"/>
            <a:ext cx="16316325" cy="14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75"/>
              </a:lnSpc>
            </a:pPr>
            <a:r>
              <a:rPr lang="en-US" sz="12500" dirty="0">
                <a:solidFill>
                  <a:srgbClr val="363636"/>
                </a:solidFill>
                <a:latin typeface="Archivo Black"/>
                <a:ea typeface="Archivo Black"/>
                <a:cs typeface="Archivo Black"/>
                <a:sym typeface="Archivo Black"/>
              </a:rPr>
              <a:t>REFERENCES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2974" y="2947525"/>
            <a:ext cx="16583025" cy="6387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Industrial Cyber (2026) Suspected Iran-linked cyberattack hits medical technology giant Stryker, 24 March. Available at: </a:t>
            </a: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https://industrialcyber.co</a:t>
            </a:r>
            <a:endParaRPr lang="en-US" sz="28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SOCRadar</a:t>
            </a: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(2026) </a:t>
            </a:r>
            <a:r>
              <a:rPr lang="en-US" sz="280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Handala</a:t>
            </a: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Group and the Weaponization of Microsoft Intune, 15 March. Available at: </a:t>
            </a: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https://socradar.io</a:t>
            </a:r>
            <a:endParaRPr lang="en-US" sz="28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HIPAA Journal (2026) Global Healthcare Supply Chain Halted by Destructive Wiper Attack, 20 March. Available at: </a:t>
            </a: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https://hipaajournal.com</a:t>
            </a:r>
            <a:endParaRPr lang="en-US" sz="28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MedTech Dive (2026) Stryker Restores Operations Following 50TB Data Breach, 27 March. Available at: </a:t>
            </a: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https://medtechdive.com</a:t>
            </a:r>
            <a:endParaRPr lang="en-US" sz="28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Palo Alto Networks Unit 42 (2026) The Rise of Identity-Based Wiper Attacks in CNI Sectors, 18 March. Available at: </a:t>
            </a:r>
            <a:r>
              <a:rPr lang="en-US" sz="28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  <a:hlinkClick r:id="rId6"/>
              </a:rPr>
              <a:t>https://unit42.paloaltonetworks.com</a:t>
            </a:r>
            <a:endParaRPr lang="en-US" sz="28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67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43927" y="2373511"/>
            <a:ext cx="15000146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8000" dirty="0">
                <a:solidFill>
                  <a:srgbClr val="1C1C1C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894</Words>
  <Application>Microsoft Office PowerPoint</Application>
  <PresentationFormat>Custom</PresentationFormat>
  <Paragraphs>136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Raleway</vt:lpstr>
      <vt:lpstr>Calibri</vt:lpstr>
      <vt:lpstr>Archivo Narrow</vt:lpstr>
      <vt:lpstr>Archivo Black</vt:lpstr>
      <vt:lpstr>Raleway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Ransomware Attacks on Critical National Infrastructure</dc:title>
  <cp:lastModifiedBy>Jomari Talens</cp:lastModifiedBy>
  <cp:revision>3</cp:revision>
  <dcterms:created xsi:type="dcterms:W3CDTF">2006-08-16T00:00:00Z</dcterms:created>
  <dcterms:modified xsi:type="dcterms:W3CDTF">2026-04-28T23:29:09Z</dcterms:modified>
  <dc:identifier>DAHIBm5D8k8</dc:identifier>
</cp:coreProperties>
</file>